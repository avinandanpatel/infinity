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7" r:id="rId5"/>
    <p:sldId id="259" r:id="rId6"/>
    <p:sldId id="260" r:id="rId7"/>
    <p:sldId id="261" r:id="rId8"/>
    <p:sldId id="262" r:id="rId9"/>
    <p:sldId id="268" r:id="rId10"/>
    <p:sldId id="265" r:id="rId11"/>
    <p:sldId id="266" r:id="rId12"/>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ndan Patel" userId="a3bc2255e017deb0" providerId="LiveId" clId="{0A1AA9F1-FE00-4051-8CE0-470FED28A189}"/>
    <pc:docChg chg="undo custSel modSld">
      <pc:chgData name="Avinandan Patel" userId="a3bc2255e017deb0" providerId="LiveId" clId="{0A1AA9F1-FE00-4051-8CE0-470FED28A189}" dt="2026-08-01T13:41:30.048" v="37" actId="1076"/>
      <pc:docMkLst>
        <pc:docMk/>
      </pc:docMkLst>
      <pc:sldChg chg="modSp mod">
        <pc:chgData name="Avinandan Patel" userId="a3bc2255e017deb0" providerId="LiveId" clId="{0A1AA9F1-FE00-4051-8CE0-470FED28A189}" dt="2026-08-01T13:41:30.048" v="37" actId="1076"/>
        <pc:sldMkLst>
          <pc:docMk/>
          <pc:sldMk cId="0" sldId="261"/>
        </pc:sldMkLst>
        <pc:spChg chg="mod">
          <ac:chgData name="Avinandan Patel" userId="a3bc2255e017deb0" providerId="LiveId" clId="{0A1AA9F1-FE00-4051-8CE0-470FED28A189}" dt="2026-08-01T13:41:30.048" v="37" actId="1076"/>
          <ac:spMkLst>
            <pc:docMk/>
            <pc:sldMk cId="0" sldId="261"/>
            <ac:spMk id="72" creationId="{00000000-0000-0000-0000-000000000000}"/>
          </ac:spMkLst>
        </pc:spChg>
      </pc:sldChg>
      <pc:sldChg chg="modSp mod">
        <pc:chgData name="Avinandan Patel" userId="a3bc2255e017deb0" providerId="LiveId" clId="{0A1AA9F1-FE00-4051-8CE0-470FED28A189}" dt="2026-08-01T13:41:06.612" v="31" actId="1076"/>
        <pc:sldMkLst>
          <pc:docMk/>
          <pc:sldMk cId="3128756453" sldId="267"/>
        </pc:sldMkLst>
        <pc:spChg chg="mod">
          <ac:chgData name="Avinandan Patel" userId="a3bc2255e017deb0" providerId="LiveId" clId="{0A1AA9F1-FE00-4051-8CE0-470FED28A189}" dt="2026-08-01T13:41:06.612" v="31" actId="1076"/>
          <ac:spMkLst>
            <pc:docMk/>
            <pc:sldMk cId="3128756453" sldId="267"/>
            <ac:spMk id="3" creationId="{29D7130C-AA7F-B576-5CE5-C0B254887283}"/>
          </ac:spMkLst>
        </pc:spChg>
      </pc:sldChg>
      <pc:sldChg chg="modSp mod">
        <pc:chgData name="Avinandan Patel" userId="a3bc2255e017deb0" providerId="LiveId" clId="{0A1AA9F1-FE00-4051-8CE0-470FED28A189}" dt="2026-08-01T13:39:48.063" v="8" actId="1076"/>
        <pc:sldMkLst>
          <pc:docMk/>
          <pc:sldMk cId="4059675188" sldId="268"/>
        </pc:sldMkLst>
        <pc:spChg chg="mod">
          <ac:chgData name="Avinandan Patel" userId="a3bc2255e017deb0" providerId="LiveId" clId="{0A1AA9F1-FE00-4051-8CE0-470FED28A189}" dt="2026-08-01T13:39:37.604" v="5" actId="14100"/>
          <ac:spMkLst>
            <pc:docMk/>
            <pc:sldMk cId="4059675188" sldId="268"/>
            <ac:spMk id="2" creationId="{205710B4-74E5-37C2-2E0B-242D993B471F}"/>
          </ac:spMkLst>
        </pc:spChg>
        <pc:spChg chg="mod">
          <ac:chgData name="Avinandan Patel" userId="a3bc2255e017deb0" providerId="LiveId" clId="{0A1AA9F1-FE00-4051-8CE0-470FED28A189}" dt="2026-08-01T13:39:48.063" v="8" actId="1076"/>
          <ac:spMkLst>
            <pc:docMk/>
            <pc:sldMk cId="4059675188" sldId="268"/>
            <ac:spMk id="3" creationId="{F6D302AE-19E3-1F9D-15EA-37BD2A98A1A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890A15E-985D-4AA8-A540-2A291D1CD368}"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D781F5F-14A5-409E-9634-CCAF17ECA541}"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AA3149C-A080-4EFE-B67A-2B907137FCF5}"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26531EC-A1E2-4208-9A4D-97B7D75D4F85}"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p>
            <a:pPr indent="0" defTabSz="457200">
              <a:lnSpc>
                <a:spcPct val="100000"/>
              </a:lnSpc>
              <a:buNone/>
            </a:pPr>
            <a:r>
              <a:rPr lang="en-US" sz="4000" b="1" u="none" strike="noStrike" cap="all">
                <a:solidFill>
                  <a:schemeClr val="dk1"/>
                </a:solidFill>
                <a:effectLst/>
                <a:uFillTx/>
                <a:latin typeface="Calibri"/>
              </a:rPr>
              <a:t>Click to edit Master title style</a:t>
            </a:r>
            <a:endParaRPr lang="en-US" sz="4000" b="0" u="none" strike="noStrike">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p>
            <a:pPr indent="0"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C234F97-EC7B-4B10-993E-A13B0F6BB869}"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0DD3E15-234B-44F3-9FFA-CBDDA307A2AC}"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A097327-B913-4099-B5FC-F494AF9E2FD7}"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EA1CDF0-79E9-4705-A226-45705F9E3C96}"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
        <p:nvSpPr>
          <p:cNvPr id="4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7"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59C6C4F-C0A8-464D-85ED-8F0AB1DFC76F}"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49"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0"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1"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3"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8A8C65F-BC4C-45D6-9D9D-817F4EFD0542}"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5"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6"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7"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9"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05D8ACF-03AD-49FD-BDF1-9136BEE7CD5E}"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vinandan.patel@iiitb.ac.in" TargetMode="Externa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8.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828800" y="22608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dirty="0">
                <a:solidFill>
                  <a:schemeClr val="dk1"/>
                </a:solidFill>
                <a:effectLst/>
                <a:uFillTx/>
                <a:latin typeface="Calibri"/>
              </a:rPr>
              <a:t>Team &amp; Solution Overview</a:t>
            </a:r>
            <a:br>
              <a:rPr sz="4400" dirty="0"/>
            </a:br>
            <a:endParaRPr lang="en-US" sz="4400" b="0" u="none" strike="noStrike" dirty="0">
              <a:solidFill>
                <a:schemeClr val="dk1"/>
              </a:solidFill>
              <a:effectLst/>
              <a:uFillTx/>
              <a:latin typeface="Calibri"/>
            </a:endParaRPr>
          </a:p>
        </p:txBody>
      </p:sp>
      <p:sp>
        <p:nvSpPr>
          <p:cNvPr id="61" name="TextBox 4"/>
          <p:cNvSpPr/>
          <p:nvPr/>
        </p:nvSpPr>
        <p:spPr>
          <a:xfrm>
            <a:off x="731520" y="1097280"/>
            <a:ext cx="9647682" cy="1629762"/>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000" b="0" u="none" strike="noStrike" dirty="0">
                <a:solidFill>
                  <a:schemeClr val="dk1"/>
                </a:solidFill>
                <a:effectLst/>
                <a:uFillTx/>
                <a:latin typeface="Calibri"/>
              </a:rPr>
              <a:t>• Team </a:t>
            </a:r>
            <a:r>
              <a:rPr lang="en-US" sz="2000" dirty="0">
                <a:solidFill>
                  <a:schemeClr val="dk1"/>
                </a:solidFill>
                <a:latin typeface="Calibri"/>
              </a:rPr>
              <a:t>name: Infinity</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Members: Avinandan Patel, Aman Rajput, Me </a:t>
            </a:r>
            <a:r>
              <a:rPr lang="en-US" sz="2000" b="0" u="none" strike="noStrike" dirty="0" err="1">
                <a:solidFill>
                  <a:schemeClr val="dk1"/>
                </a:solidFill>
                <a:effectLst/>
                <a:uFillTx/>
                <a:latin typeface="Calibri"/>
              </a:rPr>
              <a:t>Me</a:t>
            </a:r>
            <a:r>
              <a:rPr lang="en-US" sz="2000" b="0" u="none" strike="noStrike" dirty="0">
                <a:solidFill>
                  <a:schemeClr val="dk1"/>
                </a:solidFill>
                <a:effectLst/>
                <a:uFillTx/>
                <a:latin typeface="Calibri"/>
              </a:rPr>
              <a:t> Khaing</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Challenge area: To predict the districts in which students of grade 4 to 6 may fall in future</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One-line solution : Create a prediction model</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Contact: </a:t>
            </a:r>
            <a:r>
              <a:rPr lang="en-US" sz="2000" b="0" u="none" strike="noStrike" dirty="0">
                <a:solidFill>
                  <a:schemeClr val="dk1"/>
                </a:solidFill>
                <a:effectLst/>
                <a:uFillTx/>
                <a:latin typeface="Calibri"/>
                <a:hlinkClick r:id="rId2"/>
              </a:rPr>
              <a:t>avinandan.patel@iiitb.ac.in</a:t>
            </a:r>
            <a:r>
              <a:rPr lang="en-US" sz="2000" b="0" u="none" strike="noStrike" dirty="0">
                <a:solidFill>
                  <a:schemeClr val="dk1"/>
                </a:solidFill>
                <a:effectLst/>
                <a:uFillTx/>
                <a:latin typeface="Calibri"/>
              </a:rPr>
              <a:t> </a:t>
            </a:r>
            <a:endParaRPr lang="en-IN" sz="2000" b="0" u="none" strike="noStrike" dirty="0">
              <a:solidFill>
                <a:srgbClr val="000000"/>
              </a:solidFill>
              <a:effectLst/>
              <a:uFillTx/>
              <a:latin typeface="Arial"/>
            </a:endParaRPr>
          </a:p>
        </p:txBody>
      </p:sp>
      <p:sp>
        <p:nvSpPr>
          <p:cNvPr id="62"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1828800" y="27864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a:solidFill>
                  <a:schemeClr val="dk1"/>
                </a:solidFill>
                <a:effectLst/>
                <a:uFillTx/>
                <a:latin typeface="Calibri"/>
              </a:rPr>
              <a:t>Problem Statement</a:t>
            </a:r>
            <a:br>
              <a:rPr sz="4400"/>
            </a:br>
            <a:endParaRPr lang="en-US" sz="4400" b="0" u="none" strike="noStrike">
              <a:solidFill>
                <a:schemeClr val="dk1"/>
              </a:solidFill>
              <a:effectLst/>
              <a:uFillTx/>
              <a:latin typeface="Calibri"/>
            </a:endParaRPr>
          </a:p>
        </p:txBody>
      </p:sp>
      <p:sp>
        <p:nvSpPr>
          <p:cNvPr id="63" name="TextBox 4"/>
          <p:cNvSpPr/>
          <p:nvPr/>
        </p:nvSpPr>
        <p:spPr>
          <a:xfrm>
            <a:off x="731520" y="1097280"/>
            <a:ext cx="11271204" cy="1629762"/>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000" b="0" u="none" strike="noStrike" dirty="0">
                <a:solidFill>
                  <a:schemeClr val="dk1"/>
                </a:solidFill>
                <a:effectLst/>
                <a:uFillTx/>
                <a:latin typeface="Calibri"/>
              </a:rPr>
              <a:t>• Educational challenge: To find out which districts need educational reforms in the future.</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Objectives: To generate predictive model for early intervention.</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Key questions: Do students in a particular district needs help with education.</a:t>
            </a:r>
          </a:p>
          <a:p>
            <a:pPr defTabSz="457200">
              <a:lnSpc>
                <a:spcPct val="100000"/>
              </a:lnSpc>
            </a:pPr>
            <a:r>
              <a:rPr lang="en-US" sz="2000" b="0" u="none" strike="noStrike" dirty="0">
                <a:solidFill>
                  <a:schemeClr val="dk1"/>
                </a:solidFill>
                <a:effectLst/>
                <a:uFillTx/>
                <a:latin typeface="Calibri"/>
              </a:rPr>
              <a:t>• Why it matters: For proper planning of distribution of resources, allocation of teachers and evaluation of </a:t>
            </a:r>
          </a:p>
          <a:p>
            <a:pPr defTabSz="457200">
              <a:lnSpc>
                <a:spcPct val="100000"/>
              </a:lnSpc>
            </a:pPr>
            <a:r>
              <a:rPr lang="en-US" sz="2000" dirty="0">
                <a:solidFill>
                  <a:schemeClr val="dk1"/>
                </a:solidFill>
                <a:latin typeface="Calibri"/>
              </a:rPr>
              <a:t>students’ performance.</a:t>
            </a:r>
            <a:endParaRPr lang="en-IN" sz="2000" b="0" u="none" strike="noStrike" dirty="0">
              <a:solidFill>
                <a:srgbClr val="000000"/>
              </a:solidFill>
              <a:effectLst/>
              <a:uFillTx/>
              <a:latin typeface="Arial"/>
            </a:endParaRPr>
          </a:p>
        </p:txBody>
      </p:sp>
      <p:sp>
        <p:nvSpPr>
          <p:cNvPr id="64"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1828800" y="35388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dirty="0">
                <a:solidFill>
                  <a:schemeClr val="dk1"/>
                </a:solidFill>
                <a:effectLst/>
                <a:uFillTx/>
                <a:latin typeface="Calibri"/>
              </a:rPr>
              <a:t>Dataset Understanding</a:t>
            </a:r>
            <a:br>
              <a:rPr sz="4400" dirty="0"/>
            </a:br>
            <a:endParaRPr lang="en-US" sz="4400" b="0" u="none" strike="noStrike" dirty="0">
              <a:solidFill>
                <a:schemeClr val="dk1"/>
              </a:solidFill>
              <a:effectLst/>
              <a:uFillTx/>
              <a:latin typeface="Calibri"/>
            </a:endParaRPr>
          </a:p>
        </p:txBody>
      </p:sp>
      <p:sp>
        <p:nvSpPr>
          <p:cNvPr id="65" name="TextBox 4"/>
          <p:cNvSpPr/>
          <p:nvPr/>
        </p:nvSpPr>
        <p:spPr>
          <a:xfrm>
            <a:off x="731521" y="1097280"/>
            <a:ext cx="10904470" cy="593863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defTabSz="457200">
              <a:lnSpc>
                <a:spcPct val="100000"/>
              </a:lnSpc>
            </a:pPr>
            <a:r>
              <a:rPr lang="en-US" sz="2000" b="0" u="none" strike="noStrike" dirty="0">
                <a:solidFill>
                  <a:schemeClr val="dk1"/>
                </a:solidFill>
                <a:effectLst/>
                <a:uFillTx/>
                <a:latin typeface="Calibri"/>
              </a:rPr>
              <a:t>• Dataset summary</a:t>
            </a:r>
            <a:endParaRPr lang="en-US" sz="2000" dirty="0">
              <a:solidFill>
                <a:schemeClr val="dk1"/>
              </a:solidFill>
              <a:latin typeface="Calibri"/>
            </a:endParaRPr>
          </a:p>
          <a:p>
            <a:pPr algn="just" defTabSz="457200">
              <a:lnSpc>
                <a:spcPct val="100000"/>
              </a:lnSpc>
            </a:pPr>
            <a:r>
              <a:rPr lang="en-US" sz="2000" b="0" u="none" strike="noStrike" dirty="0">
                <a:solidFill>
                  <a:schemeClr val="dk1"/>
                </a:solidFill>
                <a:effectLst/>
                <a:uFillTx/>
                <a:latin typeface="Calibri"/>
              </a:rPr>
              <a:t>	1. </a:t>
            </a:r>
            <a:r>
              <a:rPr lang="en-US" sz="2000" dirty="0">
                <a:solidFill>
                  <a:schemeClr val="dk1"/>
                </a:solidFill>
                <a:latin typeface="Calibri"/>
              </a:rPr>
              <a:t>Secondary dataset: master_features.csv</a:t>
            </a:r>
            <a:endParaRPr lang="en-IN" sz="2000" b="0" u="none" strike="noStrike" dirty="0">
              <a:solidFill>
                <a:srgbClr val="000000"/>
              </a:solidFill>
              <a:effectLst/>
              <a:uFillTx/>
              <a:latin typeface="Arial"/>
            </a:endParaRPr>
          </a:p>
          <a:p>
            <a:pPr algn="just" defTabSz="457200">
              <a:lnSpc>
                <a:spcPct val="100000"/>
              </a:lnSpc>
            </a:pPr>
            <a:r>
              <a:rPr lang="en-US" sz="2000" b="0" u="none" strike="noStrike" dirty="0">
                <a:solidFill>
                  <a:schemeClr val="dk1"/>
                </a:solidFill>
                <a:effectLst/>
                <a:uFillTx/>
                <a:latin typeface="Calibri"/>
              </a:rPr>
              <a:t>• Variables</a:t>
            </a:r>
          </a:p>
          <a:p>
            <a:pPr algn="just" defTabSz="457200">
              <a:lnSpc>
                <a:spcPct val="100000"/>
              </a:lnSpc>
            </a:pPr>
            <a:r>
              <a:rPr lang="en-US" sz="2000" dirty="0">
                <a:solidFill>
                  <a:schemeClr val="dk1"/>
                </a:solidFill>
                <a:latin typeface="Calibri"/>
              </a:rPr>
              <a:t>	1. Demographics(Census 2011): population, %SC/%ST, sex ratio, literacy rate 	(total/male/female),%rural population, work participation rate, occupation shares (cultivator/</a:t>
            </a:r>
            <a:r>
              <a:rPr lang="en-US" sz="2000" dirty="0" err="1">
                <a:solidFill>
                  <a:schemeClr val="dk1"/>
                </a:solidFill>
                <a:latin typeface="Calibri"/>
              </a:rPr>
              <a:t>agri</a:t>
            </a:r>
            <a:r>
              <a:rPr lang="en-US" sz="2000" dirty="0">
                <a:solidFill>
                  <a:schemeClr val="dk1"/>
                </a:solidFill>
                <a:latin typeface="Calibri"/>
              </a:rPr>
              <a:t> 	</a:t>
            </a:r>
            <a:r>
              <a:rPr lang="en-US" sz="2000" dirty="0" err="1">
                <a:solidFill>
                  <a:schemeClr val="dk1"/>
                </a:solidFill>
                <a:latin typeface="Calibri"/>
              </a:rPr>
              <a:t>labourer</a:t>
            </a:r>
            <a:r>
              <a:rPr lang="en-US" sz="2000" dirty="0">
                <a:solidFill>
                  <a:schemeClr val="dk1"/>
                </a:solidFill>
                <a:latin typeface="Calibri"/>
              </a:rPr>
              <a:t>/household industry/other)</a:t>
            </a:r>
          </a:p>
          <a:p>
            <a:pPr algn="just" defTabSz="457200">
              <a:lnSpc>
                <a:spcPct val="100000"/>
              </a:lnSpc>
            </a:pPr>
            <a:endParaRPr lang="en-US" sz="2000" dirty="0">
              <a:solidFill>
                <a:schemeClr val="dk1"/>
              </a:solidFill>
              <a:latin typeface="Calibri"/>
            </a:endParaRPr>
          </a:p>
          <a:p>
            <a:pPr algn="just" defTabSz="457200">
              <a:lnSpc>
                <a:spcPct val="100000"/>
              </a:lnSpc>
            </a:pPr>
            <a:r>
              <a:rPr lang="en-US" sz="2000" dirty="0">
                <a:solidFill>
                  <a:schemeClr val="dk1"/>
                </a:solidFill>
                <a:latin typeface="Calibri"/>
              </a:rPr>
              <a:t>	2. </a:t>
            </a:r>
            <a:r>
              <a:rPr lang="en-US" sz="2000" dirty="0">
                <a:solidFill>
                  <a:schemeClr val="dk1"/>
                </a:solidFill>
              </a:rPr>
              <a:t>Women's health &amp; education (NFHS-5): women's literacy, schooling years, sanitation/clean 	cooking fuel/drinking water/electricity access, child anemia/wasting/underweight rates, health 	insurance coverage.</a:t>
            </a:r>
          </a:p>
          <a:p>
            <a:pPr algn="just" defTabSz="457200">
              <a:lnSpc>
                <a:spcPct val="100000"/>
              </a:lnSpc>
            </a:pPr>
            <a:endParaRPr lang="en-US" sz="2000" dirty="0">
              <a:solidFill>
                <a:schemeClr val="dk1"/>
              </a:solidFill>
            </a:endParaRPr>
          </a:p>
          <a:p>
            <a:pPr algn="just" defTabSz="457200">
              <a:lnSpc>
                <a:spcPct val="100000"/>
              </a:lnSpc>
            </a:pPr>
            <a:r>
              <a:rPr lang="en-US" sz="2000" dirty="0">
                <a:solidFill>
                  <a:schemeClr val="dk1"/>
                </a:solidFill>
              </a:rPr>
              <a:t>	3. School infrastructure (UDISE-style): management type shares (state govt/aided/private/central 	govt/other), road access, </a:t>
            </a:r>
            <a:r>
              <a:rPr lang="en-US" sz="2000" dirty="0" err="1">
                <a:solidFill>
                  <a:schemeClr val="dk1"/>
                </a:solidFill>
              </a:rPr>
              <a:t>anganwadi</a:t>
            </a:r>
            <a:r>
              <a:rPr lang="en-US" sz="2000" dirty="0">
                <a:solidFill>
                  <a:schemeClr val="dk1"/>
                </a:solidFill>
              </a:rPr>
              <a:t> linkage, pre-primary section, CCE adoption, minority/CWSN 	schools, avg instructional days, grade 4-6 coverage.</a:t>
            </a:r>
          </a:p>
          <a:p>
            <a:pPr algn="just" defTabSz="457200">
              <a:lnSpc>
                <a:spcPct val="100000"/>
              </a:lnSpc>
            </a:pPr>
            <a:endParaRPr lang="en-US" sz="2000" dirty="0">
              <a:solidFill>
                <a:schemeClr val="dk1"/>
              </a:solidFill>
            </a:endParaRPr>
          </a:p>
          <a:p>
            <a:pPr algn="just" defTabSz="457200">
              <a:lnSpc>
                <a:spcPct val="100000"/>
              </a:lnSpc>
            </a:pPr>
            <a:r>
              <a:rPr lang="en-US" sz="2000" dirty="0">
                <a:solidFill>
                  <a:schemeClr val="dk1"/>
                </a:solidFill>
              </a:rPr>
              <a:t>	4. Exam outcomes (SSLC): total appeared/pass, pass % (total/boys/girls), district rank								 </a:t>
            </a:r>
            <a:endParaRPr lang="en-US" sz="2000" dirty="0">
              <a:solidFill>
                <a:schemeClr val="dk1"/>
              </a:solidFill>
              <a:latin typeface="Calibri"/>
            </a:endParaRPr>
          </a:p>
          <a:p>
            <a:pPr defTabSz="457200">
              <a:lnSpc>
                <a:spcPct val="100000"/>
              </a:lnSpc>
            </a:pPr>
            <a:endParaRPr lang="en-IN" sz="2000" b="0" u="none" strike="noStrike" dirty="0">
              <a:solidFill>
                <a:srgbClr val="000000"/>
              </a:solidFill>
              <a:effectLst/>
              <a:uFillTx/>
              <a:latin typeface="Arial"/>
            </a:endParaRPr>
          </a:p>
          <a:p>
            <a:pPr defTabSz="457200">
              <a:lnSpc>
                <a:spcPct val="100000"/>
              </a:lnSpc>
            </a:pPr>
            <a:endParaRPr lang="en-IN" sz="2000" b="0" u="none" strike="noStrike" dirty="0">
              <a:solidFill>
                <a:srgbClr val="000000"/>
              </a:solidFill>
              <a:effectLst/>
              <a:uFillTx/>
              <a:latin typeface="Arial"/>
            </a:endParaRPr>
          </a:p>
        </p:txBody>
      </p:sp>
      <p:sp>
        <p:nvSpPr>
          <p:cNvPr id="66"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EBA9B-D852-D3C5-23CD-E90621D3F4BC}"/>
              </a:ext>
            </a:extLst>
          </p:cNvPr>
          <p:cNvSpPr>
            <a:spLocks noGrp="1"/>
          </p:cNvSpPr>
          <p:nvPr>
            <p:ph type="title"/>
          </p:nvPr>
        </p:nvSpPr>
        <p:spPr>
          <a:xfrm>
            <a:off x="1823884" y="245183"/>
            <a:ext cx="8229240" cy="1142640"/>
          </a:xfrm>
        </p:spPr>
        <p:txBody>
          <a:bodyPr/>
          <a:lstStyle/>
          <a:p>
            <a:pPr algn="ctr"/>
            <a:r>
              <a:rPr lang="en-US" sz="4000" dirty="0">
                <a:solidFill>
                  <a:schemeClr val="dk1"/>
                </a:solidFill>
              </a:rPr>
              <a:t>Dataset Understanding</a:t>
            </a:r>
            <a:br>
              <a:rPr lang="en-US" dirty="0"/>
            </a:br>
            <a:endParaRPr lang="en-IN" dirty="0"/>
          </a:p>
        </p:txBody>
      </p:sp>
      <p:sp>
        <p:nvSpPr>
          <p:cNvPr id="3" name="Text Placeholder 2">
            <a:extLst>
              <a:ext uri="{FF2B5EF4-FFF2-40B4-BE49-F238E27FC236}">
                <a16:creationId xmlns:a16="http://schemas.microsoft.com/office/drawing/2014/main" id="{29D7130C-AA7F-B576-5CE5-C0B254887283}"/>
              </a:ext>
            </a:extLst>
          </p:cNvPr>
          <p:cNvSpPr>
            <a:spLocks noGrp="1"/>
          </p:cNvSpPr>
          <p:nvPr>
            <p:ph type="body"/>
          </p:nvPr>
        </p:nvSpPr>
        <p:spPr>
          <a:xfrm>
            <a:off x="191789" y="1206954"/>
            <a:ext cx="11493430" cy="5008298"/>
          </a:xfrm>
        </p:spPr>
        <p:txBody>
          <a:bodyPr>
            <a:normAutofit fontScale="77500" lnSpcReduction="20000"/>
          </a:bodyPr>
          <a:lstStyle/>
          <a:p>
            <a:pPr defTabSz="457200">
              <a:lnSpc>
                <a:spcPct val="100000"/>
              </a:lnSpc>
            </a:pPr>
            <a:r>
              <a:rPr lang="en-US" sz="4500" dirty="0">
                <a:solidFill>
                  <a:schemeClr val="dk1"/>
                </a:solidFill>
                <a:latin typeface="+mj-lt"/>
              </a:rPr>
              <a:t>Cleaning </a:t>
            </a:r>
          </a:p>
          <a:p>
            <a:pPr marL="800100" lvl="1" indent="-342900" defTabSz="457200">
              <a:lnSpc>
                <a:spcPct val="100000"/>
              </a:lnSpc>
              <a:buAutoNum type="arabicPeriod"/>
            </a:pPr>
            <a:r>
              <a:rPr lang="en-IN" sz="2600" dirty="0">
                <a:solidFill>
                  <a:srgbClr val="000000"/>
                </a:solidFill>
              </a:rPr>
              <a:t>Median-imputed 4 occupation-share columns for 3 districts with no 2011 Census row (Belagavi, Belagavi </a:t>
            </a:r>
            <a:r>
              <a:rPr lang="en-IN" sz="2600" dirty="0" err="1">
                <a:solidFill>
                  <a:srgbClr val="000000"/>
                </a:solidFill>
              </a:rPr>
              <a:t>Chikkodi</a:t>
            </a:r>
            <a:r>
              <a:rPr lang="en-IN" sz="2600" dirty="0">
                <a:solidFill>
                  <a:srgbClr val="000000"/>
                </a:solidFill>
              </a:rPr>
              <a:t>, </a:t>
            </a:r>
            <a:r>
              <a:rPr lang="en-IN" sz="2600" dirty="0" err="1">
                <a:solidFill>
                  <a:srgbClr val="000000"/>
                </a:solidFill>
              </a:rPr>
              <a:t>Kalaburgi</a:t>
            </a:r>
            <a:r>
              <a:rPr lang="en-IN" sz="2600" dirty="0">
                <a:solidFill>
                  <a:srgbClr val="000000"/>
                </a:solidFill>
              </a:rPr>
              <a:t>), renormalized to sum to 100%, flagged via </a:t>
            </a:r>
            <a:r>
              <a:rPr lang="en-IN" sz="2600" dirty="0" err="1">
                <a:solidFill>
                  <a:srgbClr val="000000"/>
                </a:solidFill>
              </a:rPr>
              <a:t>census_occupation_imputed</a:t>
            </a:r>
            <a:r>
              <a:rPr lang="en-IN" sz="2600" dirty="0">
                <a:solidFill>
                  <a:srgbClr val="000000"/>
                </a:solidFill>
              </a:rPr>
              <a:t> </a:t>
            </a:r>
            <a:r>
              <a:rPr lang="en-IN" sz="2600" dirty="0" err="1">
                <a:solidFill>
                  <a:srgbClr val="000000"/>
                </a:solidFill>
              </a:rPr>
              <a:t>boolean</a:t>
            </a:r>
            <a:r>
              <a:rPr lang="en-IN" sz="2600" dirty="0">
                <a:solidFill>
                  <a:srgbClr val="000000"/>
                </a:solidFill>
              </a:rPr>
              <a:t> — no other Census columns imputed</a:t>
            </a:r>
          </a:p>
          <a:p>
            <a:pPr marL="800100" lvl="1" indent="-342900" defTabSz="457200">
              <a:lnSpc>
                <a:spcPct val="100000"/>
              </a:lnSpc>
              <a:buAutoNum type="arabicPeriod"/>
            </a:pPr>
            <a:r>
              <a:rPr lang="en-IN" sz="2600" dirty="0">
                <a:solidFill>
                  <a:srgbClr val="000000"/>
                </a:solidFill>
              </a:rPr>
              <a:t>Verified UDISE+ school management codes against official DCF documents; corrected to the official 5-group split (state govt/aided/private/central govt/other)</a:t>
            </a:r>
          </a:p>
          <a:p>
            <a:pPr marL="800100" lvl="1" indent="-342900" defTabSz="457200">
              <a:lnSpc>
                <a:spcPct val="100000"/>
              </a:lnSpc>
              <a:buAutoNum type="arabicPeriod"/>
            </a:pPr>
            <a:endParaRPr lang="en-IN" sz="3200" dirty="0">
              <a:solidFill>
                <a:srgbClr val="000000"/>
              </a:solidFill>
            </a:endParaRPr>
          </a:p>
          <a:p>
            <a:pPr defTabSz="457200">
              <a:lnSpc>
                <a:spcPct val="100000"/>
              </a:lnSpc>
            </a:pPr>
            <a:r>
              <a:rPr lang="en-US" sz="4000" dirty="0">
                <a:solidFill>
                  <a:schemeClr val="dk1"/>
                </a:solidFill>
              </a:rPr>
              <a:t>Assumptions</a:t>
            </a:r>
          </a:p>
          <a:p>
            <a:pPr marL="0" indent="0" defTabSz="457200">
              <a:lnSpc>
                <a:spcPct val="100000"/>
              </a:lnSpc>
              <a:buNone/>
            </a:pPr>
            <a:r>
              <a:rPr lang="en-US" sz="3200" dirty="0">
                <a:solidFill>
                  <a:schemeClr val="dk1"/>
                </a:solidFill>
              </a:rPr>
              <a:t>	</a:t>
            </a:r>
            <a:r>
              <a:rPr lang="en-US" sz="2600" dirty="0">
                <a:solidFill>
                  <a:schemeClr val="dk1"/>
                </a:solidFill>
              </a:rPr>
              <a:t>Imputed columns (3 districts only: Belagavi, Belagavi </a:t>
            </a:r>
            <a:r>
              <a:rPr lang="en-US" sz="2600" dirty="0" err="1">
                <a:solidFill>
                  <a:schemeClr val="dk1"/>
                </a:solidFill>
              </a:rPr>
              <a:t>Chikkodi</a:t>
            </a:r>
            <a:r>
              <a:rPr lang="en-US" sz="2600" dirty="0">
                <a:solidFill>
                  <a:schemeClr val="dk1"/>
                </a:solidFill>
              </a:rPr>
              <a:t>, </a:t>
            </a:r>
            <a:r>
              <a:rPr lang="en-US" sz="2600" dirty="0" err="1">
                <a:solidFill>
                  <a:schemeClr val="dk1"/>
                </a:solidFill>
              </a:rPr>
              <a:t>Kalaburgi</a:t>
            </a:r>
            <a:r>
              <a:rPr lang="en-US" sz="2600" dirty="0">
                <a:solidFill>
                  <a:schemeClr val="dk1"/>
                </a:solidFill>
              </a:rPr>
              <a:t> — no 2011 Census row 	existed 	for 	these):</a:t>
            </a:r>
          </a:p>
          <a:p>
            <a:pPr marL="914400" lvl="1" indent="-457200" defTabSz="457200">
              <a:lnSpc>
                <a:spcPct val="100000"/>
              </a:lnSpc>
              <a:buFont typeface="+mj-lt"/>
              <a:buAutoNum type="arabicPeriod"/>
            </a:pPr>
            <a:r>
              <a:rPr lang="en-US" sz="2600" dirty="0" err="1">
                <a:solidFill>
                  <a:schemeClr val="dk1"/>
                </a:solidFill>
              </a:rPr>
              <a:t>census_pct_cultivator_worker</a:t>
            </a:r>
            <a:endParaRPr lang="en-US" sz="2600" dirty="0">
              <a:solidFill>
                <a:schemeClr val="dk1"/>
              </a:solidFill>
            </a:endParaRPr>
          </a:p>
          <a:p>
            <a:pPr marL="914400" lvl="1" indent="-457200" defTabSz="457200">
              <a:lnSpc>
                <a:spcPct val="100000"/>
              </a:lnSpc>
              <a:buFont typeface="+mj-lt"/>
              <a:buAutoNum type="arabicPeriod"/>
            </a:pPr>
            <a:r>
              <a:rPr lang="en-US" sz="2600" dirty="0" err="1">
                <a:solidFill>
                  <a:schemeClr val="dk1"/>
                </a:solidFill>
              </a:rPr>
              <a:t>scensus_pct_agri_labourer_workers</a:t>
            </a:r>
            <a:endParaRPr lang="en-US" sz="2600" dirty="0">
              <a:solidFill>
                <a:schemeClr val="dk1"/>
              </a:solidFill>
            </a:endParaRPr>
          </a:p>
          <a:p>
            <a:pPr marL="914400" lvl="1" indent="-457200" defTabSz="457200">
              <a:lnSpc>
                <a:spcPct val="100000"/>
              </a:lnSpc>
              <a:buFont typeface="+mj-lt"/>
              <a:buAutoNum type="arabicPeriod"/>
            </a:pPr>
            <a:r>
              <a:rPr lang="en-US" sz="2600" dirty="0" err="1">
                <a:solidFill>
                  <a:schemeClr val="dk1"/>
                </a:solidFill>
              </a:rPr>
              <a:t>census_pct_household_industry_workers</a:t>
            </a:r>
            <a:endParaRPr lang="en-US" sz="2600" dirty="0">
              <a:solidFill>
                <a:schemeClr val="dk1"/>
              </a:solidFill>
            </a:endParaRPr>
          </a:p>
          <a:p>
            <a:pPr marL="914400" lvl="1" indent="-457200" defTabSz="457200">
              <a:lnSpc>
                <a:spcPct val="100000"/>
              </a:lnSpc>
              <a:buFont typeface="+mj-lt"/>
              <a:buAutoNum type="arabicPeriod"/>
            </a:pPr>
            <a:r>
              <a:rPr lang="en-US" sz="2600" dirty="0" err="1">
                <a:solidFill>
                  <a:schemeClr val="dk1"/>
                </a:solidFill>
              </a:rPr>
              <a:t>census_pct_other_workers</a:t>
            </a:r>
            <a:endParaRPr lang="en-US" sz="2600" dirty="0">
              <a:solidFill>
                <a:schemeClr val="dk1"/>
              </a:solidFill>
            </a:endParaRPr>
          </a:p>
          <a:p>
            <a:pPr marL="457200" lvl="1" defTabSz="457200">
              <a:lnSpc>
                <a:spcPct val="100000"/>
              </a:lnSpc>
            </a:pPr>
            <a:endParaRPr lang="en-US" sz="2600" dirty="0">
              <a:solidFill>
                <a:schemeClr val="dk1"/>
              </a:solidFill>
            </a:endParaRPr>
          </a:p>
          <a:p>
            <a:pPr marL="0" indent="0" defTabSz="457200">
              <a:lnSpc>
                <a:spcPct val="100000"/>
              </a:lnSpc>
              <a:buNone/>
            </a:pPr>
            <a:r>
              <a:rPr lang="en-US" sz="2600" dirty="0">
                <a:solidFill>
                  <a:schemeClr val="dk1"/>
                </a:solidFill>
              </a:rPr>
              <a:t>	Method: cross-district median (from the other 28 districts), then proportionally renormalized so the 4 	shares sum to exactly 100% per row.</a:t>
            </a:r>
            <a:endParaRPr lang="en-IN" sz="2600" dirty="0">
              <a:solidFill>
                <a:srgbClr val="000000"/>
              </a:solidFill>
            </a:endParaRPr>
          </a:p>
          <a:p>
            <a:pPr marL="0" indent="0">
              <a:buNone/>
            </a:pPr>
            <a:endParaRPr lang="en-IN" dirty="0"/>
          </a:p>
        </p:txBody>
      </p:sp>
    </p:spTree>
    <p:extLst>
      <p:ext uri="{BB962C8B-B14F-4D97-AF65-F5344CB8AC3E}">
        <p14:creationId xmlns:p14="http://schemas.microsoft.com/office/powerpoint/2010/main" val="3128756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1828800" y="22608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a:solidFill>
                  <a:schemeClr val="dk1"/>
                </a:solidFill>
                <a:effectLst/>
                <a:uFillTx/>
                <a:latin typeface="Calibri"/>
              </a:rPr>
              <a:t>Analytical Approach</a:t>
            </a:r>
            <a:br>
              <a:rPr sz="4400"/>
            </a:br>
            <a:endParaRPr lang="en-US" sz="4400" b="0" u="none" strike="noStrike">
              <a:solidFill>
                <a:schemeClr val="dk1"/>
              </a:solidFill>
              <a:effectLst/>
              <a:uFillTx/>
              <a:latin typeface="Calibri"/>
            </a:endParaRPr>
          </a:p>
        </p:txBody>
      </p:sp>
      <p:sp>
        <p:nvSpPr>
          <p:cNvPr id="67" name="TextBox 4"/>
          <p:cNvSpPr/>
          <p:nvPr/>
        </p:nvSpPr>
        <p:spPr>
          <a:xfrm>
            <a:off x="141593" y="1097280"/>
            <a:ext cx="11342484" cy="255309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2000" b="0" u="none" strike="noStrike" dirty="0">
                <a:solidFill>
                  <a:schemeClr val="dk1"/>
                </a:solidFill>
                <a:effectLst/>
                <a:uFillTx/>
                <a:latin typeface="Calibri"/>
              </a:rPr>
              <a:t>• Workflow: Collection of data fro</a:t>
            </a:r>
            <a:r>
              <a:rPr lang="en-US" sz="2000" dirty="0">
                <a:solidFill>
                  <a:schemeClr val="dk1"/>
                </a:solidFill>
                <a:latin typeface="Calibri"/>
              </a:rPr>
              <a:t>m the relevant government sites, Cleaning of the data, merging the data in to a single master csv,</a:t>
            </a:r>
          </a:p>
          <a:p>
            <a:pPr defTabSz="457200">
              <a:lnSpc>
                <a:spcPct val="100000"/>
              </a:lnSpc>
            </a:pPr>
            <a:r>
              <a:rPr lang="en-US" sz="2000" dirty="0">
                <a:solidFill>
                  <a:schemeClr val="dk1"/>
                </a:solidFill>
                <a:latin typeface="Calibri"/>
              </a:rPr>
              <a:t>Joining the secondary master dataset with the primary dataset, training the prediction model, testing the model and evaluation </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Methods: Feature Selection using Anova and chi square. Anova for numerical Feature and chi square for categorical feature.</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Models: Logistic Regression, Decision Tree, Random Forest, Hyperparameter Tuning for Random Forest. </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Validation: We have used 2025 data as unseen data, used the Cross Validation technique</a:t>
            </a:r>
            <a:endParaRPr lang="en-IN" sz="2000" b="0" u="none" strike="noStrike" dirty="0">
              <a:solidFill>
                <a:srgbClr val="000000"/>
              </a:solidFill>
              <a:effectLst/>
              <a:uFillTx/>
              <a:latin typeface="Arial"/>
            </a:endParaRPr>
          </a:p>
        </p:txBody>
      </p:sp>
      <p:sp>
        <p:nvSpPr>
          <p:cNvPr id="68"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PlaceHolder 1"/>
          <p:cNvSpPr>
            <a:spLocks noGrp="1"/>
          </p:cNvSpPr>
          <p:nvPr>
            <p:ph type="title"/>
          </p:nvPr>
        </p:nvSpPr>
        <p:spPr>
          <a:xfrm>
            <a:off x="630936" y="640080"/>
            <a:ext cx="4818888" cy="1481328"/>
          </a:xfrm>
          <a:prstGeom prst="rect">
            <a:avLst/>
          </a:prstGeom>
        </p:spPr>
        <p:txBody>
          <a:bodyPr vert="horz" lIns="91440" tIns="45720" rIns="91440" bIns="45720" rtlCol="0" anchor="b">
            <a:normAutofit/>
          </a:bodyPr>
          <a:lstStyle/>
          <a:p>
            <a:pPr indent="0"/>
            <a:r>
              <a:rPr lang="en-US" sz="5000" b="0" u="none" strike="noStrike" kern="1200">
                <a:solidFill>
                  <a:schemeClr val="tx1"/>
                </a:solidFill>
                <a:effectLst/>
                <a:uFillTx/>
                <a:latin typeface="+mj-lt"/>
                <a:ea typeface="+mj-ea"/>
                <a:cs typeface="+mj-cs"/>
              </a:rPr>
              <a:t>Key Insight 1</a:t>
            </a:r>
            <a:br>
              <a:rPr lang="en-US" sz="5000" kern="1200">
                <a:solidFill>
                  <a:schemeClr val="tx1"/>
                </a:solidFill>
                <a:latin typeface="+mj-lt"/>
                <a:ea typeface="+mj-ea"/>
                <a:cs typeface="+mj-cs"/>
              </a:rPr>
            </a:br>
            <a:endParaRPr lang="en-US" sz="5000" b="0" u="none" strike="noStrike" kern="1200">
              <a:solidFill>
                <a:schemeClr val="tx1"/>
              </a:solidFill>
              <a:effectLst/>
              <a:uFillTx/>
              <a:latin typeface="+mj-lt"/>
              <a:ea typeface="+mj-ea"/>
              <a:cs typeface="+mj-cs"/>
            </a:endParaRPr>
          </a:p>
        </p:txBody>
      </p:sp>
      <p:sp>
        <p:nvSpPr>
          <p:cNvPr id="86"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EvalFooter"/>
          <p:cNvSpPr txBox="1"/>
          <p:nvPr/>
        </p:nvSpPr>
        <p:spPr>
          <a:xfrm>
            <a:off x="630936" y="2580894"/>
            <a:ext cx="4818888" cy="3547872"/>
          </a:xfrm>
          <a:prstGeom prst="rect">
            <a:avLst/>
          </a:prstGeom>
        </p:spPr>
        <p:txBody>
          <a:bodyPr vert="horz" lIns="91440" tIns="45720" rIns="91440" bIns="45720" rtlCol="0" anchor="t">
            <a:normAutofit fontScale="92500" lnSpcReduction="20000"/>
          </a:bodyPr>
          <a:lstStyle/>
          <a:p>
            <a:pPr algn="just"/>
            <a:r>
              <a:rPr lang="en-US" dirty="0"/>
              <a:t>By analyzing the data in depth, we see distinctive geographic trends depending on the location. Western and southern regions of countries (the 'left' side of the map) show higher quality levels compared to the southern, eastern, and northern regions (the 'right' side of the map). Using ANOVA to examine this pattern confirms that key quality indicators like girls' practical reading skills, sanitation, and school building quality are really important. Historically, western countries have done better in specific economic and profit-related categories, which aligns with the model’s original 'Score' being higher. So, according to the data, regional development differences matter, and countries on the 'left' side can be placed at higher quality levels within the current framework.</a:t>
            </a:r>
            <a:endParaRPr lang="en-IN" dirty="0"/>
          </a:p>
        </p:txBody>
      </p:sp>
      <p:pic>
        <p:nvPicPr>
          <p:cNvPr id="3" name="Picture 2">
            <a:extLst>
              <a:ext uri="{FF2B5EF4-FFF2-40B4-BE49-F238E27FC236}">
                <a16:creationId xmlns:a16="http://schemas.microsoft.com/office/drawing/2014/main" id="{2AF71DC5-3E43-B442-8E4C-104BD0EBD41B}"/>
              </a:ext>
            </a:extLst>
          </p:cNvPr>
          <p:cNvPicPr>
            <a:picLocks noChangeAspect="1"/>
          </p:cNvPicPr>
          <p:nvPr/>
        </p:nvPicPr>
        <p:blipFill>
          <a:blip r:embed="rId2">
            <a:extLst>
              <a:ext uri="{28A0092B-C50C-407E-A947-70E740481C1C}">
                <a14:useLocalDpi xmlns:a14="http://schemas.microsoft.com/office/drawing/2010/main" val="0"/>
              </a:ext>
            </a:extLst>
          </a:blip>
          <a:srcRect r="916"/>
          <a:stretch>
            <a:fillRect/>
          </a:stretch>
        </p:blipFill>
        <p:spPr>
          <a:xfrm>
            <a:off x="6403672" y="640080"/>
            <a:ext cx="4849719" cy="5577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PlaceHolder 1"/>
          <p:cNvSpPr>
            <a:spLocks noGrp="1"/>
          </p:cNvSpPr>
          <p:nvPr>
            <p:ph type="title"/>
          </p:nvPr>
        </p:nvSpPr>
        <p:spPr>
          <a:xfrm>
            <a:off x="630936" y="639520"/>
            <a:ext cx="3429000" cy="1719072"/>
          </a:xfrm>
          <a:prstGeom prst="rect">
            <a:avLst/>
          </a:prstGeom>
        </p:spPr>
        <p:txBody>
          <a:bodyPr vert="horz" lIns="91440" tIns="45720" rIns="91440" bIns="45720" rtlCol="0" anchor="b">
            <a:normAutofit/>
          </a:bodyPr>
          <a:lstStyle/>
          <a:p>
            <a:pPr indent="0"/>
            <a:r>
              <a:rPr lang="en-US" sz="4600" b="0" u="none" strike="noStrike" kern="1200" dirty="0">
                <a:solidFill>
                  <a:schemeClr val="tx1"/>
                </a:solidFill>
                <a:effectLst/>
                <a:uFillTx/>
                <a:latin typeface="+mj-lt"/>
                <a:ea typeface="+mj-ea"/>
                <a:cs typeface="+mj-cs"/>
              </a:rPr>
              <a:t>Key Insight 2</a:t>
            </a:r>
            <a:br>
              <a:rPr lang="en-US" sz="4600" kern="1200" dirty="0">
                <a:solidFill>
                  <a:schemeClr val="tx1"/>
                </a:solidFill>
                <a:latin typeface="+mj-lt"/>
                <a:ea typeface="+mj-ea"/>
                <a:cs typeface="+mj-cs"/>
              </a:rPr>
            </a:br>
            <a:endParaRPr lang="en-US" sz="4600" b="0" u="none" strike="noStrike" kern="1200" dirty="0">
              <a:solidFill>
                <a:schemeClr val="tx1"/>
              </a:solidFill>
              <a:effectLst/>
              <a:uFillTx/>
              <a:latin typeface="+mj-lt"/>
              <a:ea typeface="+mj-ea"/>
              <a:cs typeface="+mj-cs"/>
            </a:endParaRPr>
          </a:p>
        </p:txBody>
      </p:sp>
      <p:sp>
        <p:nvSpPr>
          <p:cNvPr id="7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EvalFooter"/>
          <p:cNvSpPr txBox="1"/>
          <p:nvPr/>
        </p:nvSpPr>
        <p:spPr>
          <a:xfrm>
            <a:off x="333756" y="2807208"/>
            <a:ext cx="4023360" cy="3995928"/>
          </a:xfrm>
          <a:prstGeom prst="rect">
            <a:avLst/>
          </a:prstGeom>
        </p:spPr>
        <p:txBody>
          <a:bodyPr vert="horz" lIns="91440" tIns="45720" rIns="91440" bIns="45720" rtlCol="0" anchor="t">
            <a:normAutofit fontScale="85000" lnSpcReduction="20000"/>
          </a:bodyPr>
          <a:lstStyle/>
          <a:p>
            <a:pPr algn="just"/>
            <a:r>
              <a:rPr lang="en-IN" dirty="0"/>
              <a:t>The feature selection process for this model utilized two distinct statistical methodologies to evaluate the importance of variables based on their data type. For </a:t>
            </a:r>
            <a:r>
              <a:rPr lang="en-IN" b="1" dirty="0"/>
              <a:t>numerical features</a:t>
            </a:r>
            <a:r>
              <a:rPr lang="en-IN" dirty="0"/>
              <a:t>, represented on the left side in </a:t>
            </a:r>
            <a:r>
              <a:rPr lang="en-IN" b="1" dirty="0"/>
              <a:t>red</a:t>
            </a:r>
            <a:r>
              <a:rPr lang="en-IN" dirty="0"/>
              <a:t>, an </a:t>
            </a:r>
            <a:r>
              <a:rPr lang="en-IN" b="1" dirty="0"/>
              <a:t>ANOVA</a:t>
            </a:r>
            <a:r>
              <a:rPr lang="en-IN" dirty="0"/>
              <a:t> (Analysis of Variance) F-score was applied to determine how strongly each continuous variable correlates with the target labels. Meanwhile, for the </a:t>
            </a:r>
            <a:r>
              <a:rPr lang="en-IN" b="1" dirty="0"/>
              <a:t>categorical features</a:t>
            </a:r>
            <a:r>
              <a:rPr lang="en-IN" dirty="0"/>
              <a:t> on the right side (typically represented in </a:t>
            </a:r>
            <a:r>
              <a:rPr lang="en-IN" b="1" dirty="0"/>
              <a:t>blue</a:t>
            </a:r>
            <a:r>
              <a:rPr lang="en-IN" dirty="0"/>
              <a:t>), a </a:t>
            </a:r>
            <a:r>
              <a:rPr lang="en-IN" b="1" dirty="0"/>
              <a:t>Chi-Square</a:t>
            </a:r>
            <a:r>
              <a:rPr lang="en-IN" dirty="0"/>
              <a:t> test was employed to measure the dependency between discrete categories and the output. By applying these tailored statistical tests, the analysis ensures that both types of data are accurately ranked, providing a comprehensive view of which factors—whether they are measurements like literacy rates or categories like school management types—have the most significant impact on the final results.</a:t>
            </a:r>
          </a:p>
          <a:p>
            <a:pPr marL="285750" indent="-285750" algn="just">
              <a:buFont typeface="Arial" panose="020B0604020202020204" pitchFamily="34" charset="0"/>
              <a:buChar char="•"/>
            </a:pPr>
            <a:r>
              <a:rPr lang="en-IN" dirty="0"/>
              <a:t>Response: At risk flag</a:t>
            </a:r>
          </a:p>
          <a:p>
            <a:pPr>
              <a:lnSpc>
                <a:spcPct val="90000"/>
              </a:lnSpc>
              <a:spcAft>
                <a:spcPts val="600"/>
              </a:spcAft>
              <a:defRPr sz="1000"/>
            </a:pPr>
            <a:endParaRPr lang="en-US" dirty="0"/>
          </a:p>
        </p:txBody>
      </p:sp>
      <p:pic>
        <p:nvPicPr>
          <p:cNvPr id="3" name="Picture 2">
            <a:extLst>
              <a:ext uri="{FF2B5EF4-FFF2-40B4-BE49-F238E27FC236}">
                <a16:creationId xmlns:a16="http://schemas.microsoft.com/office/drawing/2014/main" id="{74352FA4-88B0-025E-D99E-DBBA7AAB05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566526"/>
            <a:ext cx="6903720" cy="37452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 name="Rectangle 78">
            <a:extLst>
              <a:ext uri="{FF2B5EF4-FFF2-40B4-BE49-F238E27FC236}">
                <a16:creationId xmlns:a16="http://schemas.microsoft.com/office/drawing/2014/main" id="{0550F5B9-399F-4FAD-AE6C-ED65F9A43A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1" name="Rectangle 80">
            <a:extLst>
              <a:ext uri="{FF2B5EF4-FFF2-40B4-BE49-F238E27FC236}">
                <a16:creationId xmlns:a16="http://schemas.microsoft.com/office/drawing/2014/main" id="{C062E60F-5CD4-4268-8359-80766346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288350"/>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PlaceHolder 1"/>
          <p:cNvSpPr>
            <a:spLocks noGrp="1"/>
          </p:cNvSpPr>
          <p:nvPr>
            <p:ph type="title"/>
          </p:nvPr>
        </p:nvSpPr>
        <p:spPr>
          <a:xfrm>
            <a:off x="841248" y="510047"/>
            <a:ext cx="3300984" cy="1645920"/>
          </a:xfrm>
          <a:prstGeom prst="rect">
            <a:avLst/>
          </a:prstGeom>
        </p:spPr>
        <p:txBody>
          <a:bodyPr vert="horz" lIns="91440" tIns="45720" rIns="91440" bIns="45720" rtlCol="0" anchor="ctr">
            <a:normAutofit/>
          </a:bodyPr>
          <a:lstStyle/>
          <a:p>
            <a:pPr indent="0"/>
            <a:r>
              <a:rPr lang="en-US" sz="2800" b="0" u="none" strike="noStrike" dirty="0">
                <a:effectLst/>
                <a:uFillTx/>
              </a:rPr>
              <a:t>Predictive model</a:t>
            </a:r>
            <a:br>
              <a:rPr lang="en-US" sz="2800" dirty="0"/>
            </a:br>
            <a:endParaRPr lang="en-US" sz="2800" b="0" u="none" strike="noStrike" dirty="0">
              <a:effectLst/>
              <a:uFillTx/>
            </a:endParaRPr>
          </a:p>
        </p:txBody>
      </p:sp>
      <p:sp>
        <p:nvSpPr>
          <p:cNvPr id="89" name="Rectangle 88">
            <a:extLst>
              <a:ext uri="{FF2B5EF4-FFF2-40B4-BE49-F238E27FC236}">
                <a16:creationId xmlns:a16="http://schemas.microsoft.com/office/drawing/2014/main" id="{BB341EC3-1810-4D33-BA3F-E2D0AA0EC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980964"/>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0" name="Rectangle 89">
            <a:extLst>
              <a:ext uri="{FF2B5EF4-FFF2-40B4-BE49-F238E27FC236}">
                <a16:creationId xmlns:a16="http://schemas.microsoft.com/office/drawing/2014/main" id="{10127CDE-2B99-47A8-BB3C-7D1751910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10864" y="1323863"/>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EvalFooter"/>
          <p:cNvSpPr txBox="1"/>
          <p:nvPr/>
        </p:nvSpPr>
        <p:spPr>
          <a:xfrm>
            <a:off x="4581144" y="408374"/>
            <a:ext cx="6797366" cy="1969293"/>
          </a:xfrm>
          <a:prstGeom prst="rect">
            <a:avLst/>
          </a:prstGeom>
        </p:spPr>
        <p:txBody>
          <a:bodyPr vert="horz" lIns="91440" tIns="45720" rIns="91440" bIns="45720" rtlCol="0" anchor="ctr">
            <a:normAutofit fontScale="92500" lnSpcReduction="10000"/>
          </a:bodyPr>
          <a:lstStyle/>
          <a:p>
            <a:r>
              <a:rPr lang="en-IN" dirty="0"/>
              <a:t>The project utilized a </a:t>
            </a:r>
            <a:r>
              <a:rPr lang="en-IN" b="1" dirty="0"/>
              <a:t>multi-class classification</a:t>
            </a:r>
            <a:r>
              <a:rPr lang="en-IN" dirty="0"/>
              <a:t> approach to </a:t>
            </a:r>
            <a:r>
              <a:rPr lang="en-IN" dirty="0" err="1"/>
              <a:t>analyze</a:t>
            </a:r>
            <a:r>
              <a:rPr lang="en-IN" dirty="0"/>
              <a:t> the data. </a:t>
            </a:r>
          </a:p>
          <a:p>
            <a:r>
              <a:rPr lang="en-IN" dirty="0"/>
              <a:t>Three primary machine learning models were tested: </a:t>
            </a:r>
            <a:r>
              <a:rPr lang="en-IN" b="1" dirty="0"/>
              <a:t>Logistic Regression, Random Forest, and Decision Tree.</a:t>
            </a:r>
            <a:r>
              <a:rPr lang="en-IN" dirty="0"/>
              <a:t> To optimize the results, hyperparameter tuning was conducted using </a:t>
            </a:r>
            <a:r>
              <a:rPr lang="en-IN" b="1" dirty="0" err="1"/>
              <a:t>RandomizedCV</a:t>
            </a:r>
            <a:r>
              <a:rPr lang="en-IN" b="1" dirty="0"/>
              <a:t> Search on Random Forest model.</a:t>
            </a:r>
            <a:r>
              <a:rPr lang="en-IN" dirty="0"/>
              <a:t> Among the models tested, the </a:t>
            </a:r>
            <a:r>
              <a:rPr lang="en-IN" b="1" dirty="0"/>
              <a:t>Random Forest</a:t>
            </a:r>
            <a:r>
              <a:rPr lang="en-IN" dirty="0"/>
              <a:t> algorithm yielded the highest performance, achieving an accuracy of </a:t>
            </a:r>
            <a:r>
              <a:rPr lang="en-IN" b="1" dirty="0"/>
              <a:t>31%</a:t>
            </a:r>
            <a:r>
              <a:rPr lang="en-IN" dirty="0"/>
              <a:t>. </a:t>
            </a:r>
            <a:endParaRPr lang="en-US" sz="1000" dirty="0"/>
          </a:p>
        </p:txBody>
      </p:sp>
      <p:pic>
        <p:nvPicPr>
          <p:cNvPr id="7" name="Picture 6">
            <a:extLst>
              <a:ext uri="{FF2B5EF4-FFF2-40B4-BE49-F238E27FC236}">
                <a16:creationId xmlns:a16="http://schemas.microsoft.com/office/drawing/2014/main" id="{464BF544-356B-9F28-62D4-66635EC02A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0636" y="2606462"/>
            <a:ext cx="2938744" cy="3639312"/>
          </a:xfrm>
          <a:prstGeom prst="rect">
            <a:avLst/>
          </a:prstGeom>
        </p:spPr>
      </p:pic>
      <p:pic>
        <p:nvPicPr>
          <p:cNvPr id="5" name="Picture 4">
            <a:extLst>
              <a:ext uri="{FF2B5EF4-FFF2-40B4-BE49-F238E27FC236}">
                <a16:creationId xmlns:a16="http://schemas.microsoft.com/office/drawing/2014/main" id="{2DCAA203-5EED-84DA-560D-F0CF2B3E1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7599" y="3108833"/>
            <a:ext cx="3584448" cy="2634569"/>
          </a:xfrm>
          <a:prstGeom prst="rect">
            <a:avLst/>
          </a:prstGeom>
        </p:spPr>
      </p:pic>
      <p:pic>
        <p:nvPicPr>
          <p:cNvPr id="3" name="Picture 2">
            <a:extLst>
              <a:ext uri="{FF2B5EF4-FFF2-40B4-BE49-F238E27FC236}">
                <a16:creationId xmlns:a16="http://schemas.microsoft.com/office/drawing/2014/main" id="{513383AB-A24D-4852-830E-6CABA6D280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37415" y="3525525"/>
            <a:ext cx="3584448" cy="18011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710B4-74E5-37C2-2E0B-242D993B471F}"/>
              </a:ext>
            </a:extLst>
          </p:cNvPr>
          <p:cNvSpPr>
            <a:spLocks noGrp="1"/>
          </p:cNvSpPr>
          <p:nvPr>
            <p:ph type="title"/>
          </p:nvPr>
        </p:nvSpPr>
        <p:spPr>
          <a:xfrm>
            <a:off x="457199" y="274680"/>
            <a:ext cx="10141889" cy="1142640"/>
          </a:xfrm>
        </p:spPr>
        <p:txBody>
          <a:bodyPr/>
          <a:lstStyle/>
          <a:p>
            <a:r>
              <a:rPr lang="en-US" sz="4000" dirty="0"/>
              <a:t>Predictive model cont’d</a:t>
            </a:r>
            <a:br>
              <a:rPr lang="en-US" sz="4000" dirty="0"/>
            </a:br>
            <a:r>
              <a:rPr lang="en-US" sz="4000" dirty="0"/>
              <a:t>Details of response features</a:t>
            </a:r>
            <a:endParaRPr lang="en-IN" sz="400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F6D302AE-19E3-1F9D-15EA-37BD2A98A1A1}"/>
                  </a:ext>
                </a:extLst>
              </p:cNvPr>
              <p:cNvSpPr>
                <a:spLocks noGrp="1"/>
              </p:cNvSpPr>
              <p:nvPr>
                <p:ph type="body"/>
              </p:nvPr>
            </p:nvSpPr>
            <p:spPr>
              <a:xfrm>
                <a:off x="457199" y="2079266"/>
                <a:ext cx="11056289" cy="2882347"/>
              </a:xfrm>
            </p:spPr>
            <p:txBody>
              <a:bodyPr>
                <a:normAutofit fontScale="55000" lnSpcReduction="20000"/>
              </a:bodyPr>
              <a:lstStyle/>
              <a:p>
                <a:r>
                  <a:rPr lang="en-IN" dirty="0"/>
                  <a:t>To translate these results into actionable insights, an </a:t>
                </a:r>
                <a:r>
                  <a:rPr lang="en-IN" b="1" dirty="0"/>
                  <a:t>"At-Risk Flag"</a:t>
                </a:r>
                <a:r>
                  <a:rPr lang="en-IN" dirty="0"/>
                  <a:t> was created based on a calculated </a:t>
                </a:r>
                <a:r>
                  <a:rPr lang="en-IN" b="1" dirty="0"/>
                  <a:t>Competency Score</a:t>
                </a:r>
                <a:r>
                  <a:rPr lang="en-IN" dirty="0"/>
                  <a:t>. This score is used to categorize subjects into four distinct risk levels based on the following thresholds:</a:t>
                </a:r>
              </a:p>
              <a:p>
                <a:pPr lvl="0"/>
                <a:r>
                  <a:rPr lang="en-IN" b="1" dirty="0"/>
                  <a:t>Severe Risk:</a:t>
                </a:r>
                <a:r>
                  <a:rPr lang="en-IN" dirty="0"/>
                  <a:t> Score </a:t>
                </a:r>
                <a14:m>
                  <m:oMath xmlns:m="http://schemas.openxmlformats.org/officeDocument/2006/math">
                    <m:r>
                      <a:rPr lang="en-IN">
                        <a:latin typeface="Cambria Math" panose="02040503050406030204" pitchFamily="18" charset="0"/>
                      </a:rPr>
                      <m:t>≤</m:t>
                    </m:r>
                  </m:oMath>
                </a14:m>
                <a:r>
                  <a:rPr lang="en-IN" dirty="0"/>
                  <a:t> 0.25</a:t>
                </a:r>
              </a:p>
              <a:p>
                <a:pPr lvl="0"/>
                <a:r>
                  <a:rPr lang="en-IN" b="1" dirty="0"/>
                  <a:t>High Risk:</a:t>
                </a:r>
                <a:r>
                  <a:rPr lang="en-IN" dirty="0"/>
                  <a:t> 0.25 &lt; Score </a:t>
                </a:r>
                <a14:m>
                  <m:oMath xmlns:m="http://schemas.openxmlformats.org/officeDocument/2006/math">
                    <m:r>
                      <a:rPr lang="en-IN">
                        <a:latin typeface="Cambria Math" panose="02040503050406030204" pitchFamily="18" charset="0"/>
                      </a:rPr>
                      <m:t>≤</m:t>
                    </m:r>
                  </m:oMath>
                </a14:m>
                <a:r>
                  <a:rPr lang="en-IN" dirty="0"/>
                  <a:t> 0.50</a:t>
                </a:r>
              </a:p>
              <a:p>
                <a:pPr lvl="0"/>
                <a:r>
                  <a:rPr lang="en-IN" b="1" dirty="0"/>
                  <a:t>Moderate Risk:</a:t>
                </a:r>
                <a:r>
                  <a:rPr lang="en-IN" dirty="0"/>
                  <a:t> 0.50 &lt; Score </a:t>
                </a:r>
                <a14:m>
                  <m:oMath xmlns:m="http://schemas.openxmlformats.org/officeDocument/2006/math">
                    <m:r>
                      <a:rPr lang="en-IN">
                        <a:latin typeface="Cambria Math" panose="02040503050406030204" pitchFamily="18" charset="0"/>
                      </a:rPr>
                      <m:t>≤</m:t>
                    </m:r>
                  </m:oMath>
                </a14:m>
                <a:r>
                  <a:rPr lang="en-IN" dirty="0"/>
                  <a:t>0.75</a:t>
                </a:r>
              </a:p>
              <a:p>
                <a:pPr lvl="0"/>
                <a:r>
                  <a:rPr lang="en-IN" b="1" dirty="0"/>
                  <a:t>Low Risk:</a:t>
                </a:r>
                <a:r>
                  <a:rPr lang="en-IN" dirty="0"/>
                  <a:t> 0.75 &lt; Score </a:t>
                </a:r>
                <a14:m>
                  <m:oMath xmlns:m="http://schemas.openxmlformats.org/officeDocument/2006/math">
                    <m:r>
                      <a:rPr lang="en-IN">
                        <a:latin typeface="Cambria Math" panose="02040503050406030204" pitchFamily="18" charset="0"/>
                      </a:rPr>
                      <m:t>≤</m:t>
                    </m:r>
                  </m:oMath>
                </a14:m>
                <a:r>
                  <a:rPr lang="en-IN" dirty="0"/>
                  <a:t>1.00</a:t>
                </a:r>
              </a:p>
              <a:p>
                <a:pPr marL="0" indent="0">
                  <a:buNone/>
                </a:pPr>
                <a:br>
                  <a:rPr lang="en-IN" dirty="0"/>
                </a:br>
                <a:endParaRPr lang="en-IN" dirty="0"/>
              </a:p>
              <a:p>
                <a:pPr lvl="0"/>
                <a:endParaRPr lang="en-IN" dirty="0"/>
              </a:p>
              <a:p>
                <a:pPr marL="514350" indent="-514350">
                  <a:buFont typeface="+mj-lt"/>
                  <a:buAutoNum type="arabicPeriod"/>
                </a:pPr>
                <a:endParaRPr lang="en-IN" dirty="0"/>
              </a:p>
              <a:p>
                <a:pPr marL="0" indent="0">
                  <a:buNone/>
                </a:pPr>
                <a:endParaRPr lang="en-IN" dirty="0"/>
              </a:p>
              <a:p>
                <a:pPr marL="0" indent="0">
                  <a:buNone/>
                </a:pPr>
                <a:endParaRPr lang="en-IN" dirty="0"/>
              </a:p>
              <a:p>
                <a:endParaRPr lang="en-IN" dirty="0"/>
              </a:p>
            </p:txBody>
          </p:sp>
        </mc:Choice>
        <mc:Fallback>
          <p:sp>
            <p:nvSpPr>
              <p:cNvPr id="3" name="Text Placeholder 2">
                <a:extLst>
                  <a:ext uri="{FF2B5EF4-FFF2-40B4-BE49-F238E27FC236}">
                    <a16:creationId xmlns:a16="http://schemas.microsoft.com/office/drawing/2014/main" id="{F6D302AE-19E3-1F9D-15EA-37BD2A98A1A1}"/>
                  </a:ext>
                </a:extLst>
              </p:cNvPr>
              <p:cNvSpPr>
                <a:spLocks noGrp="1" noRot="1" noChangeAspect="1" noMove="1" noResize="1" noEditPoints="1" noAdjustHandles="1" noChangeArrowheads="1" noChangeShapeType="1" noTextEdit="1"/>
              </p:cNvSpPr>
              <p:nvPr>
                <p:ph type="body"/>
              </p:nvPr>
            </p:nvSpPr>
            <p:spPr>
              <a:xfrm>
                <a:off x="457199" y="2079266"/>
                <a:ext cx="11056289" cy="2882347"/>
              </a:xfrm>
              <a:blipFill>
                <a:blip r:embed="rId2"/>
                <a:stretch>
                  <a:fillRect l="-827" t="-18816"/>
                </a:stretch>
              </a:blipFill>
            </p:spPr>
            <p:txBody>
              <a:bodyPr/>
              <a:lstStyle/>
              <a:p>
                <a:r>
                  <a:rPr lang="en-IN">
                    <a:noFill/>
                  </a:rPr>
                  <a:t> </a:t>
                </a:r>
              </a:p>
            </p:txBody>
          </p:sp>
        </mc:Fallback>
      </mc:AlternateContent>
    </p:spTree>
    <p:extLst>
      <p:ext uri="{BB962C8B-B14F-4D97-AF65-F5344CB8AC3E}">
        <p14:creationId xmlns:p14="http://schemas.microsoft.com/office/powerpoint/2010/main" val="4059675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1828800" y="22608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a:solidFill>
                  <a:schemeClr val="dk1"/>
                </a:solidFill>
                <a:effectLst/>
                <a:uFillTx/>
                <a:latin typeface="Calibri"/>
              </a:rPr>
              <a:t>Innovation &amp; Impact</a:t>
            </a:r>
            <a:br>
              <a:rPr sz="4400"/>
            </a:br>
            <a:endParaRPr lang="en-US" sz="4400" b="0" u="none" strike="noStrike">
              <a:solidFill>
                <a:schemeClr val="dk1"/>
              </a:solidFill>
              <a:effectLst/>
              <a:uFillTx/>
              <a:latin typeface="Calibri"/>
            </a:endParaRPr>
          </a:p>
        </p:txBody>
      </p:sp>
      <p:sp>
        <p:nvSpPr>
          <p:cNvPr id="81" name="TextBox 4"/>
          <p:cNvSpPr/>
          <p:nvPr/>
        </p:nvSpPr>
        <p:spPr>
          <a:xfrm>
            <a:off x="731521" y="1097280"/>
            <a:ext cx="10378932" cy="193753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2000" b="0" u="none" strike="noStrike" dirty="0">
                <a:solidFill>
                  <a:schemeClr val="dk1"/>
                </a:solidFill>
                <a:effectLst/>
                <a:uFillTx/>
                <a:latin typeface="Calibri"/>
              </a:rPr>
              <a:t>• Novelty: Using Machine Learning model to predict the future grades of the students depending on changes in the data</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Scalability: Can be scaled to other states as well if the data is available.</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Limitations: For better predictions the data fed into the model has to be updated at regular intervals</a:t>
            </a:r>
            <a:endParaRPr lang="en-IN" sz="2000" b="0" u="none" strike="noStrike" dirty="0">
              <a:solidFill>
                <a:srgbClr val="000000"/>
              </a:solidFill>
              <a:effectLst/>
              <a:uFillTx/>
              <a:latin typeface="Arial"/>
            </a:endParaRPr>
          </a:p>
          <a:p>
            <a:pPr defTabSz="457200">
              <a:lnSpc>
                <a:spcPct val="100000"/>
              </a:lnSpc>
            </a:pPr>
            <a:r>
              <a:rPr lang="en-US" sz="2000" b="0" u="none" strike="noStrike" dirty="0">
                <a:solidFill>
                  <a:schemeClr val="dk1"/>
                </a:solidFill>
                <a:effectLst/>
                <a:uFillTx/>
                <a:latin typeface="Calibri"/>
              </a:rPr>
              <a:t>• Expected impact: Better planning and efficient use of resources. </a:t>
            </a:r>
            <a:endParaRPr lang="en-IN" sz="2000" b="0" u="none" strike="noStrike" dirty="0">
              <a:solidFill>
                <a:srgbClr val="000000"/>
              </a:solidFill>
              <a:effectLst/>
              <a:uFillTx/>
              <a:latin typeface="Arial"/>
            </a:endParaRPr>
          </a:p>
        </p:txBody>
      </p:sp>
      <p:sp>
        <p:nvSpPr>
          <p:cNvPr id="82"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1828800" y="226080"/>
            <a:ext cx="8229240" cy="1142640"/>
          </a:xfrm>
          <a:prstGeom prst="rect">
            <a:avLst/>
          </a:prstGeom>
          <a:noFill/>
          <a:ln w="0">
            <a:noFill/>
          </a:ln>
        </p:spPr>
        <p:txBody>
          <a:bodyPr lIns="91440" tIns="45720" rIns="91440" bIns="45720" anchor="ctr">
            <a:normAutofit fontScale="90000"/>
          </a:bodyPr>
          <a:lstStyle/>
          <a:p>
            <a:pPr indent="0" algn="ctr" defTabSz="457200">
              <a:lnSpc>
                <a:spcPct val="100000"/>
              </a:lnSpc>
              <a:buNone/>
            </a:pPr>
            <a:r>
              <a:rPr lang="en-US" sz="4400" b="0" u="none" strike="noStrike" dirty="0">
                <a:solidFill>
                  <a:schemeClr val="dk1"/>
                </a:solidFill>
                <a:effectLst/>
                <a:uFillTx/>
                <a:latin typeface="Calibri"/>
              </a:rPr>
              <a:t>Conclusion &amp; Key Takeaways</a:t>
            </a:r>
            <a:br>
              <a:rPr sz="4400" dirty="0"/>
            </a:br>
            <a:endParaRPr lang="en-US" sz="4400" b="0" u="none" strike="noStrike" dirty="0">
              <a:solidFill>
                <a:schemeClr val="dk1"/>
              </a:solidFill>
              <a:effectLst/>
              <a:uFillTx/>
              <a:latin typeface="Calibri"/>
            </a:endParaRPr>
          </a:p>
        </p:txBody>
      </p:sp>
      <p:sp>
        <p:nvSpPr>
          <p:cNvPr id="83" name="TextBox 4"/>
          <p:cNvSpPr/>
          <p:nvPr/>
        </p:nvSpPr>
        <p:spPr>
          <a:xfrm>
            <a:off x="731522" y="1097280"/>
            <a:ext cx="9255857" cy="286086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defTabSz="457200">
              <a:lnSpc>
                <a:spcPct val="100000"/>
              </a:lnSpc>
            </a:pPr>
            <a:r>
              <a:rPr lang="en-US" sz="2000" dirty="0">
                <a:solidFill>
                  <a:schemeClr val="dk1"/>
                </a:solidFill>
              </a:rPr>
              <a:t>This project successfully tackled the major challenge of identifying educational disparities across different regions. First, we created a flexible strategy that could be adjusted early on as needed. Using multi-class classification and feature selection validation (ANOVA and Chi-Square), this model turned complex socio-economic and infrastructure data into defined “At-Risk” levels. These risk levels range from Low to Severe, clearly showing where students need special attention. Finally, this predictive model can serve as an essential tool for data-driven management, helping to properly allocate resources, retain the best teachers, and improve student performance fairly across schools with different circumstances, all based on international standards.</a:t>
            </a:r>
            <a:endParaRPr lang="en-IN" sz="2000" b="0" u="none" strike="noStrike" dirty="0">
              <a:solidFill>
                <a:srgbClr val="000000"/>
              </a:solidFill>
              <a:effectLst/>
              <a:uFillTx/>
              <a:latin typeface="Arial"/>
            </a:endParaRPr>
          </a:p>
        </p:txBody>
      </p:sp>
      <p:sp>
        <p:nvSpPr>
          <p:cNvPr id="84" name="EvalFooter"/>
          <p:cNvSpPr txBox="1"/>
          <p:nvPr/>
        </p:nvSpPr>
        <p:spPr>
          <a:xfrm>
            <a:off x="457200" y="6217920"/>
            <a:ext cx="8229600" cy="246221"/>
          </a:xfrm>
          <a:prstGeom prst="rect">
            <a:avLst/>
          </a:prstGeom>
          <a:noFill/>
        </p:spPr>
        <p:txBody>
          <a:bodyPr wrap="square">
            <a:normAutofit/>
          </a:bodyPr>
          <a:lstStyle/>
          <a:p>
            <a:pPr>
              <a:defRPr sz="1000"/>
            </a:pPr>
            <a:r>
              <a:rPr lang="en-US" sz="1000" dirty="0"/>
              <a:t>Evaluation: Depth of analysis | Policy relevance | Cross-dataset analysis | Innovation | Clarity of insights | Visualisation &amp; presentation</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141</TotalTime>
  <Words>1357</Words>
  <Application>Microsoft Office PowerPoint</Application>
  <PresentationFormat>Widescreen</PresentationFormat>
  <Paragraphs>73</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Cambria Math</vt:lpstr>
      <vt:lpstr>Symbol</vt:lpstr>
      <vt:lpstr>Times New Roman</vt:lpstr>
      <vt:lpstr>Wingdings</vt:lpstr>
      <vt:lpstr>Office Theme</vt:lpstr>
      <vt:lpstr>Team &amp; Solution Overview </vt:lpstr>
      <vt:lpstr>Problem Statement </vt:lpstr>
      <vt:lpstr>Dataset Understanding </vt:lpstr>
      <vt:lpstr>Dataset Understanding </vt:lpstr>
      <vt:lpstr>Analytical Approach </vt:lpstr>
      <vt:lpstr>Key Insight 1 </vt:lpstr>
      <vt:lpstr>Key Insight 2 </vt:lpstr>
      <vt:lpstr>Predictive model </vt:lpstr>
      <vt:lpstr>Predictive model cont’d Details of response features</vt:lpstr>
      <vt:lpstr>Innovation &amp; Impact </vt:lpstr>
      <vt:lpstr>Conclusion &amp; Key Takeaways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&amp; Solution Overview</dc:title>
  <dc:subject/>
  <dc:creator>Me Me Khaing</dc:creator>
  <dc:description>generated using python-pptx</dc:description>
  <cp:lastModifiedBy>Avinandan Patel</cp:lastModifiedBy>
  <cp:revision>6</cp:revision>
  <dcterms:created xsi:type="dcterms:W3CDTF">2013-01-27T09:14:16Z</dcterms:created>
  <dcterms:modified xsi:type="dcterms:W3CDTF">2026-08-01T13:41:30Z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12</vt:i4>
  </property>
</Properties>
</file>